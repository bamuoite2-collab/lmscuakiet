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50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4572000" cy="1051560"/>
          </a:xfrm>
          <a:prstGeom prst="rect">
            <a:avLst/>
          </a:prstGeom>
          <a:solidFill>
            <a:srgbClr val="00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TÍNH CHẤT HOÁ HỌC CỦA MUỐI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" y="1353312"/>
            <a:ext cx="4160520" cy="1417320"/>
          </a:xfrm>
          <a:prstGeom prst="roundRect">
            <a:avLst/>
          </a:prstGeom>
          <a:solidFill>
            <a:srgbClr val="0F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325880"/>
            <a:ext cx="41605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325880"/>
            <a:ext cx="118872" cy="1417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99032"/>
            <a:ext cx="384048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  <a:latin typeface="Arial"/>
              </a:defRPr>
            </a:pPr>
            <a:r>
              <a:rPr dirty="0"/>
              <a:t>1.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Kim </a:t>
            </a:r>
            <a:r>
              <a:rPr dirty="0" err="1"/>
              <a:t>loại</a:t>
            </a:r>
            <a:endParaRPr dirty="0"/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C0392B"/>
                </a:solidFill>
                <a:latin typeface="Consolas"/>
              </a:rPr>
              <a:t>Cu + 2AgNO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3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 → Cu(NO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3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)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2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 + 2Ag↓</a:t>
            </a:r>
          </a:p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endParaRPr lang="en-US" dirty="0"/>
          </a:p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r>
              <a:rPr dirty="0"/>
              <a:t>➤ </a:t>
            </a:r>
            <a:r>
              <a:rPr dirty="0" err="1"/>
              <a:t>Muối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+ Kim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mới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736592" y="1353312"/>
            <a:ext cx="4160520" cy="1417320"/>
          </a:xfrm>
          <a:prstGeom prst="roundRect">
            <a:avLst/>
          </a:prstGeom>
          <a:solidFill>
            <a:srgbClr val="0F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09160" y="1325880"/>
            <a:ext cx="41605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09160" y="1325880"/>
            <a:ext cx="118872" cy="1417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1399032"/>
            <a:ext cx="384048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  <a:latin typeface="Arial"/>
              </a:defRPr>
            </a:pPr>
            <a:r>
              <a:rPr dirty="0"/>
              <a:t>2.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Acid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C0392B"/>
                </a:solidFill>
                <a:latin typeface="Consolas"/>
              </a:rPr>
              <a:t>BaCl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2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 + H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2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SO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4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 → BaSO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4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↓ + 2HCl</a:t>
            </a:r>
          </a:p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endParaRPr lang="en-US" dirty="0"/>
          </a:p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r>
              <a:rPr dirty="0"/>
              <a:t>➤ </a:t>
            </a:r>
            <a:r>
              <a:rPr dirty="0" err="1"/>
              <a:t>Muối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+ Acid </a:t>
            </a:r>
            <a:r>
              <a:rPr dirty="0" err="1"/>
              <a:t>mới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301752" y="3044952"/>
            <a:ext cx="4160520" cy="1417320"/>
          </a:xfrm>
          <a:prstGeom prst="roundRect">
            <a:avLst/>
          </a:prstGeom>
          <a:solidFill>
            <a:srgbClr val="0F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4320" y="3017520"/>
            <a:ext cx="41605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4320" y="3017520"/>
            <a:ext cx="118872" cy="14173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090672"/>
            <a:ext cx="384048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  <a:latin typeface="Arial"/>
              </a:defRPr>
            </a:pPr>
            <a:r>
              <a:rPr dirty="0"/>
              <a:t>3.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Muối</a:t>
            </a:r>
            <a:endParaRPr dirty="0"/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C0392B"/>
                </a:solidFill>
                <a:latin typeface="Consolas"/>
              </a:rPr>
              <a:t>AgNO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3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 + NaCl → AgCl↓ + NaNO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3</a:t>
            </a:r>
          </a:p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endParaRPr lang="en-US" dirty="0"/>
          </a:p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r>
              <a:rPr dirty="0"/>
              <a:t>➤ </a:t>
            </a:r>
            <a:r>
              <a:rPr dirty="0" err="1"/>
              <a:t>Tạo</a:t>
            </a:r>
            <a:r>
              <a:rPr dirty="0"/>
              <a:t> 2 </a:t>
            </a:r>
            <a:r>
              <a:rPr dirty="0" err="1"/>
              <a:t>Muối</a:t>
            </a:r>
            <a:r>
              <a:rPr dirty="0"/>
              <a:t> </a:t>
            </a:r>
            <a:r>
              <a:rPr dirty="0" err="1"/>
              <a:t>mới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4736592" y="3044952"/>
            <a:ext cx="4160520" cy="1417320"/>
          </a:xfrm>
          <a:prstGeom prst="roundRect">
            <a:avLst/>
          </a:prstGeom>
          <a:solidFill>
            <a:srgbClr val="0F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09160" y="3017520"/>
            <a:ext cx="41605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09160" y="3017520"/>
            <a:ext cx="118872" cy="1417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090672"/>
            <a:ext cx="384048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  <a:latin typeface="Arial"/>
              </a:defRPr>
            </a:pPr>
            <a:r>
              <a:rPr dirty="0"/>
              <a:t>4.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Base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C0392B"/>
                </a:solidFill>
                <a:latin typeface="Consolas"/>
              </a:rPr>
              <a:t>Na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2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CO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3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 + Ba(OH)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2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 → 2NaOH + BaCO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3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↓</a:t>
            </a:r>
          </a:p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endParaRPr lang="en-US" dirty="0"/>
          </a:p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r>
              <a:rPr dirty="0"/>
              <a:t>➤ </a:t>
            </a:r>
            <a:r>
              <a:rPr dirty="0" err="1"/>
              <a:t>Muối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+ Base </a:t>
            </a:r>
            <a:r>
              <a:rPr dirty="0" err="1"/>
              <a:t>mới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1856232" y="4736592"/>
            <a:ext cx="5486400" cy="1783080"/>
          </a:xfrm>
          <a:prstGeom prst="roundRect">
            <a:avLst/>
          </a:prstGeom>
          <a:solidFill>
            <a:srgbClr val="0F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828800" y="4709160"/>
            <a:ext cx="548640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828800" y="4709160"/>
            <a:ext cx="118872" cy="17830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57400" y="4782312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Arial"/>
              </a:defRPr>
            </a:pPr>
            <a:r>
              <a:t>5. Phản ứng phân huỷ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303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0392B"/>
                </a:solidFill>
                <a:latin typeface="Consolas"/>
              </a:rPr>
              <a:t>2KClO</a:t>
            </a:r>
            <a:r>
              <a:rPr sz="1500" b="1" baseline="-25000">
                <a:solidFill>
                  <a:srgbClr val="C0392B"/>
                </a:solidFill>
                <a:latin typeface="Consolas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74720" y="5458968"/>
            <a:ext cx="1463040" cy="10972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0" y="5148072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980B9"/>
                </a:solidFill>
                <a:latin typeface="Arial"/>
              </a:rPr>
              <a:t>t°, MnO</a:t>
            </a:r>
            <a:r>
              <a:rPr sz="1100" b="1" baseline="-25000">
                <a:solidFill>
                  <a:srgbClr val="2980B9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303520"/>
            <a:ext cx="131318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C0392B"/>
                </a:solidFill>
                <a:latin typeface="Consolas"/>
              </a:rPr>
              <a:t>2KCl + 3O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2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897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0392B"/>
                </a:solidFill>
                <a:latin typeface="Consolas"/>
              </a:rPr>
              <a:t>CaCO</a:t>
            </a:r>
            <a:r>
              <a:rPr sz="1500" b="1" baseline="-25000">
                <a:solidFill>
                  <a:srgbClr val="C0392B"/>
                </a:solidFill>
                <a:latin typeface="Consolas"/>
              </a:rPr>
              <a:t>3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474720" y="6053328"/>
            <a:ext cx="1463040" cy="10972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0" y="5742432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980B9"/>
                </a:solidFill>
                <a:latin typeface="Arial"/>
              </a:rPr>
              <a:t>t°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897880"/>
            <a:ext cx="120738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C0392B"/>
                </a:solidFill>
                <a:latin typeface="Consolas"/>
              </a:rPr>
              <a:t>CaO + CO</a:t>
            </a:r>
            <a:r>
              <a:rPr sz="1500" b="1" baseline="-25000" dirty="0">
                <a:solidFill>
                  <a:srgbClr val="C0392B"/>
                </a:solidFill>
                <a:latin typeface="Consolas"/>
              </a:rPr>
              <a:t>2</a:t>
            </a:r>
            <a:r>
              <a:rPr sz="1500" b="1" dirty="0">
                <a:solidFill>
                  <a:srgbClr val="C0392B"/>
                </a:solidFill>
                <a:latin typeface="Consolas"/>
              </a:rPr>
              <a:t>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114</Words>
  <Application>Microsoft Office PowerPoint</Application>
  <PresentationFormat>On-screen Show (4:3)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 TUAN KIET</cp:lastModifiedBy>
  <cp:revision>2</cp:revision>
  <dcterms:created xsi:type="dcterms:W3CDTF">2013-01-27T09:14:16Z</dcterms:created>
  <dcterms:modified xsi:type="dcterms:W3CDTF">2026-09-29T11:51:32Z</dcterms:modified>
  <cp:category/>
</cp:coreProperties>
</file>